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4"/>
  </p:notesMasterIdLst>
  <p:sldIdLst>
    <p:sldId id="256" r:id="rId2"/>
    <p:sldId id="275" r:id="rId3"/>
    <p:sldId id="257" r:id="rId4"/>
    <p:sldId id="259" r:id="rId5"/>
    <p:sldId id="274" r:id="rId6"/>
    <p:sldId id="258" r:id="rId7"/>
    <p:sldId id="276" r:id="rId8"/>
    <p:sldId id="278" r:id="rId9"/>
    <p:sldId id="277" r:id="rId10"/>
    <p:sldId id="260" r:id="rId11"/>
    <p:sldId id="261" r:id="rId12"/>
    <p:sldId id="268" r:id="rId13"/>
    <p:sldId id="262" r:id="rId14"/>
    <p:sldId id="266" r:id="rId15"/>
    <p:sldId id="263" r:id="rId16"/>
    <p:sldId id="265" r:id="rId17"/>
    <p:sldId id="272" r:id="rId18"/>
    <p:sldId id="267" r:id="rId19"/>
    <p:sldId id="271" r:id="rId20"/>
    <p:sldId id="269" r:id="rId21"/>
    <p:sldId id="270" r:id="rId22"/>
    <p:sldId id="27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71766" autoAdjust="0"/>
  </p:normalViewPr>
  <p:slideViewPr>
    <p:cSldViewPr snapToGrid="0">
      <p:cViewPr varScale="1">
        <p:scale>
          <a:sx n="76" d="100"/>
          <a:sy n="76" d="100"/>
        </p:scale>
        <p:origin x="126"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056"/>
    </p:cViewPr>
  </p:sorterViewPr>
  <p:notesViewPr>
    <p:cSldViewPr snapToGrid="0">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Scholes" userId="e9dcf329245b32f7" providerId="LiveId" clId="{F7E530B0-DF25-4750-B511-1F414606BCEA}"/>
    <pc:docChg chg="custSel modSld modNotesMaster">
      <pc:chgData name="Paul Scholes" userId="e9dcf329245b32f7" providerId="LiveId" clId="{F7E530B0-DF25-4750-B511-1F414606BCEA}" dt="2021-04-08T21:15:55.216" v="9"/>
      <pc:docMkLst>
        <pc:docMk/>
      </pc:docMkLst>
      <pc:sldChg chg="modNotes">
        <pc:chgData name="Paul Scholes" userId="e9dcf329245b32f7" providerId="LiveId" clId="{F7E530B0-DF25-4750-B511-1F414606BCEA}" dt="2021-04-08T21:15:54.112" v="8"/>
        <pc:sldMkLst>
          <pc:docMk/>
          <pc:sldMk cId="2307889263" sldId="257"/>
        </pc:sldMkLst>
      </pc:sldChg>
      <pc:sldChg chg="modNotes">
        <pc:chgData name="Paul Scholes" userId="e9dcf329245b32f7" providerId="LiveId" clId="{F7E530B0-DF25-4750-B511-1F414606BCEA}" dt="2021-04-08T21:15:54.112" v="8"/>
        <pc:sldMkLst>
          <pc:docMk/>
          <pc:sldMk cId="1072829550" sldId="258"/>
        </pc:sldMkLst>
      </pc:sldChg>
      <pc:sldChg chg="modNotes">
        <pc:chgData name="Paul Scholes" userId="e9dcf329245b32f7" providerId="LiveId" clId="{F7E530B0-DF25-4750-B511-1F414606BCEA}" dt="2021-04-08T21:15:54.112" v="8"/>
        <pc:sldMkLst>
          <pc:docMk/>
          <pc:sldMk cId="855815138" sldId="259"/>
        </pc:sldMkLst>
      </pc:sldChg>
      <pc:sldChg chg="modNotes">
        <pc:chgData name="Paul Scholes" userId="e9dcf329245b32f7" providerId="LiveId" clId="{F7E530B0-DF25-4750-B511-1F414606BCEA}" dt="2021-04-08T21:15:54.112" v="8"/>
        <pc:sldMkLst>
          <pc:docMk/>
          <pc:sldMk cId="2642534636" sldId="260"/>
        </pc:sldMkLst>
      </pc:sldChg>
      <pc:sldChg chg="modNotes">
        <pc:chgData name="Paul Scholes" userId="e9dcf329245b32f7" providerId="LiveId" clId="{F7E530B0-DF25-4750-B511-1F414606BCEA}" dt="2021-04-08T21:15:54.112" v="8"/>
        <pc:sldMkLst>
          <pc:docMk/>
          <pc:sldMk cId="1124192251" sldId="261"/>
        </pc:sldMkLst>
      </pc:sldChg>
      <pc:sldChg chg="modNotes">
        <pc:chgData name="Paul Scholes" userId="e9dcf329245b32f7" providerId="LiveId" clId="{F7E530B0-DF25-4750-B511-1F414606BCEA}" dt="2021-04-08T21:15:54.112" v="8"/>
        <pc:sldMkLst>
          <pc:docMk/>
          <pc:sldMk cId="3435121759" sldId="262"/>
        </pc:sldMkLst>
      </pc:sldChg>
      <pc:sldChg chg="modNotes">
        <pc:chgData name="Paul Scholes" userId="e9dcf329245b32f7" providerId="LiveId" clId="{F7E530B0-DF25-4750-B511-1F414606BCEA}" dt="2021-04-08T21:15:54.112" v="8"/>
        <pc:sldMkLst>
          <pc:docMk/>
          <pc:sldMk cId="302825686" sldId="263"/>
        </pc:sldMkLst>
      </pc:sldChg>
      <pc:sldChg chg="modNotes">
        <pc:chgData name="Paul Scholes" userId="e9dcf329245b32f7" providerId="LiveId" clId="{F7E530B0-DF25-4750-B511-1F414606BCEA}" dt="2021-04-08T21:15:54.112" v="8"/>
        <pc:sldMkLst>
          <pc:docMk/>
          <pc:sldMk cId="748642794" sldId="265"/>
        </pc:sldMkLst>
      </pc:sldChg>
      <pc:sldChg chg="modNotes">
        <pc:chgData name="Paul Scholes" userId="e9dcf329245b32f7" providerId="LiveId" clId="{F7E530B0-DF25-4750-B511-1F414606BCEA}" dt="2021-04-08T21:15:54.112" v="8"/>
        <pc:sldMkLst>
          <pc:docMk/>
          <pc:sldMk cId="890059006" sldId="266"/>
        </pc:sldMkLst>
      </pc:sldChg>
      <pc:sldChg chg="modNotes">
        <pc:chgData name="Paul Scholes" userId="e9dcf329245b32f7" providerId="LiveId" clId="{F7E530B0-DF25-4750-B511-1F414606BCEA}" dt="2021-04-08T21:15:54.112" v="8"/>
        <pc:sldMkLst>
          <pc:docMk/>
          <pc:sldMk cId="4226869426" sldId="27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8350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Thus, refugees are a form of forced migration, and shouldn’t be confused with those who migrate to improve their situation. Migrants who flee climate change, poverty, or other factors not mentioned in the definition are not refugees under this United Nations label. </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3</a:t>
            </a:fld>
            <a:endParaRPr lang="en-US"/>
          </a:p>
        </p:txBody>
      </p:sp>
    </p:spTree>
    <p:extLst>
      <p:ext uri="{BB962C8B-B14F-4D97-AF65-F5344CB8AC3E}">
        <p14:creationId xmlns:p14="http://schemas.microsoft.com/office/powerpoint/2010/main" val="1899415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545123" y="285750"/>
            <a:ext cx="5486400" cy="3600450"/>
          </a:xfrm>
        </p:spPr>
        <p:txBody>
          <a:bodyPr/>
          <a:lstStyle/>
          <a:p>
            <a:r>
              <a:rPr lang="en-US" baseline="0" dirty="0"/>
              <a:t>THE PROCESS</a:t>
            </a:r>
          </a:p>
          <a:p>
            <a:r>
              <a:rPr lang="en-US" baseline="0" dirty="0"/>
              <a:t>UNHCR collects initial documentation and biographical information-&gt; Department of State </a:t>
            </a:r>
            <a:r>
              <a:rPr lang="en-US" baseline="0" dirty="0" err="1"/>
              <a:t>Resettlment</a:t>
            </a:r>
            <a:r>
              <a:rPr lang="en-US" baseline="0" dirty="0"/>
              <a:t> Center, an </a:t>
            </a:r>
            <a:r>
              <a:rPr lang="en-US" baseline="0" dirty="0" err="1"/>
              <a:t>indepth</a:t>
            </a:r>
            <a:r>
              <a:rPr lang="en-US" baseline="0" dirty="0"/>
              <a:t> interview, verifies data, and send for background check-&gt; National Counter-terrorism center, FBI, Department of Homeland Security, Department of Defense, Department of State and the intelligence community screen applicant. Refugees are screened more carefully than any other traveler in the US. </a:t>
            </a:r>
          </a:p>
          <a:p>
            <a:r>
              <a:rPr lang="en-US" baseline="0" dirty="0"/>
              <a:t>Results from each agency are transmitted back to Department of Homeland Security, conduct in person interviews and collect biometric data. DHS confirms this interview with first interview. Additional interviews are scheduled and verified afterwards. Inconsistencies put a case on hold, new information puts a case on hold. DHS makes a decision. Biometric data is screened against DOD, FBI and DHS databases.-&gt; Cultural orientation class and Medical check-&gt; Each week 9 resettlement agencies meet and review applicant info to determine settlement location. </a:t>
            </a:r>
          </a:p>
          <a:p>
            <a:endParaRPr lang="en-US" baseline="0" dirty="0"/>
          </a:p>
          <a:p>
            <a:r>
              <a:rPr lang="en-US" sz="1200" kern="1200" dirty="0">
                <a:solidFill>
                  <a:schemeClr val="tx1"/>
                </a:solidFill>
                <a:effectLst/>
                <a:latin typeface="+mn-lt"/>
                <a:ea typeface="+mn-ea"/>
                <a:cs typeface="+mn-cs"/>
              </a:rPr>
              <a:t>Refugees are then further assigned to a local office/partner for a specific area picked for the individual refugee. Considerations include whether the refugee has family in the area, the presence of a similar ethnic group, training programs that fit the refugee’s interests and needs, cost of living, amount and size of affordable housing units available, job availability, or the presences of housing that fits specific needs (Hirsch 2020). For the first few months, refugees are given substantial assistance. After this preliminary time period (the earliest time limit is 8 months), refugees typically no longer qualify for refugee specific programs and rely on standard American programs like the Supplemental Nutrition Assistance Program (SNAP) or Medicaid. Refugees are eligible for typical American assistance programs for at least 5 years, the states have extremely different limitations and eligibility requirements but no state cuts refugees off before five years (Fix, Hooper, and </a:t>
            </a:r>
            <a:r>
              <a:rPr lang="en-US" sz="1200" kern="1200" dirty="0" err="1">
                <a:solidFill>
                  <a:schemeClr val="tx1"/>
                </a:solidFill>
                <a:effectLst/>
                <a:latin typeface="+mn-lt"/>
                <a:ea typeface="+mn-ea"/>
                <a:cs typeface="+mn-cs"/>
              </a:rPr>
              <a:t>Zong</a:t>
            </a:r>
            <a:r>
              <a:rPr lang="en-US" sz="1200" kern="1200" dirty="0">
                <a:solidFill>
                  <a:schemeClr val="tx1"/>
                </a:solidFill>
                <a:effectLst/>
                <a:latin typeface="+mn-lt"/>
                <a:ea typeface="+mn-ea"/>
                <a:cs typeface="+mn-cs"/>
              </a:rPr>
              <a:t> 2017).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percentage of refugees needing assistance decreases dramatically after the first few years of arrival in the U.S. and continues to drop steadily as they gain more years of residency. Refugees typically pay more in taxes than they receive in benefits over their first 20 years (Evans and Fitzgerald 2017). Refugee men are more likely to be employed than native men. Refugee women are about equally as likely as native women to be employed (Fix, Hooper, </a:t>
            </a:r>
            <a:r>
              <a:rPr lang="en-US" sz="1200" kern="1200" dirty="0" err="1">
                <a:solidFill>
                  <a:schemeClr val="tx1"/>
                </a:solidFill>
                <a:effectLst/>
                <a:latin typeface="+mn-lt"/>
                <a:ea typeface="+mn-ea"/>
                <a:cs typeface="+mn-cs"/>
              </a:rPr>
              <a:t>Zong</a:t>
            </a:r>
            <a:r>
              <a:rPr lang="en-US" sz="1200" kern="1200" dirty="0">
                <a:solidFill>
                  <a:schemeClr val="tx1"/>
                </a:solidFill>
                <a:effectLst/>
                <a:latin typeface="+mn-lt"/>
                <a:ea typeface="+mn-ea"/>
                <a:cs typeface="+mn-cs"/>
              </a:rPr>
              <a:t> 2017). </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RESEARCH QUESTIONS: How many refugees in the United States can be financially independent? How has this changed over time? Have we seen any large changes associated with the recent events surrounding migrants and refugees?</a:t>
            </a:r>
          </a:p>
          <a:p>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4</a:t>
            </a:fld>
            <a:endParaRPr lang="en-US"/>
          </a:p>
        </p:txBody>
      </p:sp>
    </p:spTree>
    <p:extLst>
      <p:ext uri="{BB962C8B-B14F-4D97-AF65-F5344CB8AC3E}">
        <p14:creationId xmlns:p14="http://schemas.microsoft.com/office/powerpoint/2010/main" val="42412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CD1FB750-113B-4F90-A3FC-A3430AC4AAFF}" type="slidenum">
              <a:rPr lang="en-US" smtClean="0"/>
              <a:t>5</a:t>
            </a:fld>
            <a:endParaRPr lang="en-US"/>
          </a:p>
        </p:txBody>
      </p:sp>
    </p:spTree>
    <p:extLst>
      <p:ext uri="{BB962C8B-B14F-4D97-AF65-F5344CB8AC3E}">
        <p14:creationId xmlns:p14="http://schemas.microsoft.com/office/powerpoint/2010/main" val="3806882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***Burt (1992) “Social capital is the friends, colleagues, and more general contacts through whom you receive opportunities to use your financial and human capital”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“Existing work in these areas tends to be largely qualitative, consisting of small samples, focused at the micro level, and examining outcomes for specific ethnonational groups with little attention to refugee needs. No systematic investigation has yet been undertaken of how these opportunity structures, </a:t>
            </a:r>
            <a:r>
              <a:rPr lang="en-US" dirty="0" err="1"/>
              <a:t>individually</a:t>
            </a:r>
            <a:r>
              <a:rPr lang="en-US" dirty="0"/>
              <a:t> or </a:t>
            </a:r>
            <a:r>
              <a:rPr lang="en-US" dirty="0" err="1"/>
              <a:t>intersectionally</a:t>
            </a:r>
            <a:r>
              <a:rPr lang="en-US" dirty="0"/>
              <a:t>, shape refugee integration and thus they offer the possibility of a new direction for research around refugee integration that is truly multidimensional.” (Phillimore 2020)</a:t>
            </a:r>
          </a:p>
          <a:p>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6</a:t>
            </a:fld>
            <a:endParaRPr lang="en-US"/>
          </a:p>
        </p:txBody>
      </p:sp>
    </p:spTree>
    <p:extLst>
      <p:ext uri="{BB962C8B-B14F-4D97-AF65-F5344CB8AC3E}">
        <p14:creationId xmlns:p14="http://schemas.microsoft.com/office/powerpoint/2010/main" val="1387950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Refugees are placed into a new situation that they have no experience with and thus cannot determine if collective support is present or absent. The</a:t>
            </a:r>
            <a:r>
              <a:rPr lang="en-US" sz="1200" kern="1200" baseline="0" dirty="0" smtClean="0">
                <a:solidFill>
                  <a:schemeClr val="tx1"/>
                </a:solidFill>
                <a:effectLst/>
                <a:latin typeface="+mn-lt"/>
                <a:ea typeface="+mn-ea"/>
                <a:cs typeface="+mn-cs"/>
              </a:rPr>
              <a:t> social learning from their</a:t>
            </a:r>
            <a:r>
              <a:rPr lang="en-US" sz="1200" kern="1200" dirty="0" smtClean="0">
                <a:solidFill>
                  <a:schemeClr val="tx1"/>
                </a:solidFill>
                <a:effectLst/>
                <a:latin typeface="+mn-lt"/>
                <a:ea typeface="+mn-ea"/>
                <a:cs typeface="+mn-cs"/>
              </a:rPr>
              <a:t> experiences and lack of resources may make refugees more likely to assume an inferior position, especially considering equity theory (Della </a:t>
            </a:r>
            <a:r>
              <a:rPr lang="en-US" sz="1200" kern="1200" dirty="0" err="1" smtClean="0">
                <a:solidFill>
                  <a:schemeClr val="tx1"/>
                </a:solidFill>
                <a:effectLst/>
                <a:latin typeface="+mn-lt"/>
                <a:ea typeface="+mn-ea"/>
                <a:cs typeface="+mn-cs"/>
              </a:rPr>
              <a:t>Fave</a:t>
            </a:r>
            <a:r>
              <a:rPr lang="en-US" sz="1200" kern="1200" dirty="0" smtClean="0">
                <a:solidFill>
                  <a:schemeClr val="tx1"/>
                </a:solidFill>
                <a:effectLst/>
                <a:latin typeface="+mn-lt"/>
                <a:ea typeface="+mn-ea"/>
                <a:cs typeface="+mn-cs"/>
              </a:rPr>
              <a:t> 1980). This may enable host context actors to take advantage over refugees, especially in indifferent or hostile milieu.</a:t>
            </a:r>
          </a:p>
          <a:p>
            <a:endParaRPr lang="en-US" dirty="0"/>
          </a:p>
        </p:txBody>
      </p:sp>
    </p:spTree>
    <p:extLst>
      <p:ext uri="{BB962C8B-B14F-4D97-AF65-F5344CB8AC3E}">
        <p14:creationId xmlns:p14="http://schemas.microsoft.com/office/powerpoint/2010/main" val="3034680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media legitimizes via 1) authorization—as they give select certain experts to give a platform—and 2) endorsement—as they interview everyday people, or cite American survey data from Pew or Gallop research centers. </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Enemy </a:t>
            </a:r>
            <a:r>
              <a:rPr lang="en-US" sz="1200" kern="1200" dirty="0" smtClean="0">
                <a:solidFill>
                  <a:schemeClr val="tx1"/>
                </a:solidFill>
                <a:effectLst/>
                <a:latin typeface="+mn-lt"/>
                <a:ea typeface="+mn-ea"/>
                <a:cs typeface="+mn-cs"/>
              </a:rPr>
              <a:t>at the gates type stories serve to influence the political and local contexts to change policy. When a caravan of migrants is on its way to the boarder, Americans worry about disease, crime, and impact on the local economy.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Stories about the good migrant always start with migrants who do things the right way: they obey, work long hours, have families, and express love for the United States. The messages </a:t>
            </a:r>
            <a:r>
              <a:rPr lang="en-US" sz="1200" kern="1200" dirty="0" smtClean="0">
                <a:solidFill>
                  <a:schemeClr val="tx1"/>
                </a:solidFill>
                <a:effectLst/>
                <a:latin typeface="+mn-lt"/>
                <a:ea typeface="+mn-ea"/>
                <a:cs typeface="+mn-cs"/>
              </a:rPr>
              <a:t>are 1) </a:t>
            </a:r>
            <a:r>
              <a:rPr lang="en-US" sz="1200" kern="1200" dirty="0" smtClean="0">
                <a:solidFill>
                  <a:schemeClr val="tx1"/>
                </a:solidFill>
                <a:effectLst/>
                <a:latin typeface="+mn-lt"/>
                <a:ea typeface="+mn-ea"/>
                <a:cs typeface="+mn-cs"/>
              </a:rPr>
              <a:t>sometimes aimed at the local or political contexts to humanize the struggle of migration, but </a:t>
            </a:r>
            <a:r>
              <a:rPr lang="en-US" sz="1200" kern="1200" dirty="0" smtClean="0">
                <a:solidFill>
                  <a:schemeClr val="tx1"/>
                </a:solidFill>
                <a:effectLst/>
                <a:latin typeface="+mn-lt"/>
                <a:ea typeface="+mn-ea"/>
                <a:cs typeface="+mn-cs"/>
              </a:rPr>
              <a:t>2) these </a:t>
            </a:r>
            <a:r>
              <a:rPr lang="en-US" sz="1200" kern="1200" dirty="0" smtClean="0">
                <a:solidFill>
                  <a:schemeClr val="tx1"/>
                </a:solidFill>
                <a:effectLst/>
                <a:latin typeface="+mn-lt"/>
                <a:ea typeface="+mn-ea"/>
                <a:cs typeface="+mn-cs"/>
              </a:rPr>
              <a:t>stories are always messages to migrants about how to be a good migrant. The political context, the local context, and the immigrants themselves will compare their performance to this “ideal migrant” role presented by the media.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These </a:t>
            </a:r>
            <a:r>
              <a:rPr lang="en-US" sz="1200" kern="1200" dirty="0" smtClean="0">
                <a:solidFill>
                  <a:schemeClr val="tx1"/>
                </a:solidFill>
                <a:effectLst/>
                <a:latin typeface="+mn-lt"/>
                <a:ea typeface="+mn-ea"/>
                <a:cs typeface="+mn-cs"/>
              </a:rPr>
              <a:t>stories of system abuse by migrant or refugees perform two roles 1) they delegitimize the resource shares of the target, and 2) they ensure that those with few resources never have the share of resources that will increase their self-perceptions of value and inspire them to ask for more (Della </a:t>
            </a:r>
            <a:r>
              <a:rPr lang="en-US" sz="1200" kern="1200" dirty="0" err="1" smtClean="0">
                <a:solidFill>
                  <a:schemeClr val="tx1"/>
                </a:solidFill>
                <a:effectLst/>
                <a:latin typeface="+mn-lt"/>
                <a:ea typeface="+mn-ea"/>
                <a:cs typeface="+mn-cs"/>
              </a:rPr>
              <a:t>Fave</a:t>
            </a:r>
            <a:r>
              <a:rPr lang="en-US" sz="1200" kern="1200" dirty="0" smtClean="0">
                <a:solidFill>
                  <a:schemeClr val="tx1"/>
                </a:solidFill>
                <a:effectLst/>
                <a:latin typeface="+mn-lt"/>
                <a:ea typeface="+mn-ea"/>
                <a:cs typeface="+mn-cs"/>
              </a:rPr>
              <a:t> 1980).</a:t>
            </a:r>
          </a:p>
          <a:p>
            <a:endParaRPr lang="en-US" dirty="0"/>
          </a:p>
        </p:txBody>
      </p:sp>
    </p:spTree>
    <p:extLst>
      <p:ext uri="{BB962C8B-B14F-4D97-AF65-F5344CB8AC3E}">
        <p14:creationId xmlns:p14="http://schemas.microsoft.com/office/powerpoint/2010/main" val="2115542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are the only country in the world whose immigration system puts the needs of other nations ahead of our own. That must change.” (Trump 2015). This webpage then goes into refugee reform and how stricter standards and allowing fewer refugees in are necessary to “crack down on abuses” and “Use the monies saved on expensive refugee programs to help… American children”. Immigration reform will be the only position listed in the “Positions” tab until September (Trump 2015). Donald Trump proposes his infamous “Muslim Ban” in December of 2015 on his official website.</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10</a:t>
            </a:fld>
            <a:endParaRPr lang="en-US"/>
          </a:p>
        </p:txBody>
      </p:sp>
    </p:spTree>
    <p:extLst>
      <p:ext uri="{BB962C8B-B14F-4D97-AF65-F5344CB8AC3E}">
        <p14:creationId xmlns:p14="http://schemas.microsoft.com/office/powerpoint/2010/main" val="453959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US" baseline="0" dirty="0"/>
              <a:t>****The Trump Administration put out negotiation messages that they didn’t want refugees or migrants to rely on public assistance programs alone. </a:t>
            </a:r>
            <a:r>
              <a:rPr lang="en-US" baseline="0"/>
              <a:t>***</a:t>
            </a:r>
            <a:endParaRPr lang="en-US" baseline="0" dirty="0"/>
          </a:p>
          <a:p>
            <a:endParaRPr lang="en-US" baseline="0" dirty="0"/>
          </a:p>
          <a:p>
            <a:endParaRPr lang="en-US" baseline="0"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11</a:t>
            </a:fld>
            <a:endParaRPr lang="en-US"/>
          </a:p>
        </p:txBody>
      </p:sp>
    </p:spTree>
    <p:extLst>
      <p:ext uri="{BB962C8B-B14F-4D97-AF65-F5344CB8AC3E}">
        <p14:creationId xmlns:p14="http://schemas.microsoft.com/office/powerpoint/2010/main" val="17567999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065133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US" dirty="0"/>
              <a:t>$800 a year is a low bar.</a:t>
            </a:r>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13</a:t>
            </a:fld>
            <a:endParaRPr lang="en-US"/>
          </a:p>
        </p:txBody>
      </p:sp>
    </p:spTree>
    <p:extLst>
      <p:ext uri="{BB962C8B-B14F-4D97-AF65-F5344CB8AC3E}">
        <p14:creationId xmlns:p14="http://schemas.microsoft.com/office/powerpoint/2010/main" val="2129292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US" dirty="0"/>
              <a:t>*** Remember</a:t>
            </a:r>
            <a:r>
              <a:rPr lang="en-US" baseline="0" dirty="0"/>
              <a:t> that policy changes occur in 2017</a:t>
            </a:r>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14</a:t>
            </a:fld>
            <a:endParaRPr lang="en-US"/>
          </a:p>
        </p:txBody>
      </p:sp>
    </p:spTree>
    <p:extLst>
      <p:ext uri="{BB962C8B-B14F-4D97-AF65-F5344CB8AC3E}">
        <p14:creationId xmlns:p14="http://schemas.microsoft.com/office/powerpoint/2010/main" val="11913491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r>
              <a:rPr lang="en-US" dirty="0"/>
              <a:t>What do I mean by Obama Era and Trump Era? I would’ve thought I mean from 2008-2016 would be the Obama era and that 2017 would start the Trump Era. </a:t>
            </a:r>
            <a:r>
              <a:rPr lang="en-US" dirty="0">
                <a:solidFill>
                  <a:srgbClr val="FFFF00"/>
                </a:solidFill>
              </a:rPr>
              <a:t>But </a:t>
            </a:r>
            <a:r>
              <a:rPr lang="en-US" dirty="0">
                <a:solidFill>
                  <a:schemeClr val="tx1"/>
                </a:solidFill>
              </a:rPr>
              <a:t>ASR is collected the year after– 2016 data was collected</a:t>
            </a:r>
            <a:r>
              <a:rPr lang="en-US" baseline="0" dirty="0">
                <a:solidFill>
                  <a:schemeClr val="tx1"/>
                </a:solidFill>
              </a:rPr>
              <a:t> in 2017 and so the stagger can make the hypothesis make sense. </a:t>
            </a:r>
            <a:endParaRPr lang="en-US" dirty="0">
              <a:solidFill>
                <a:schemeClr val="tx1"/>
              </a:solidFill>
            </a:endParaRPr>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15</a:t>
            </a:fld>
            <a:endParaRPr lang="en-US"/>
          </a:p>
        </p:txBody>
      </p:sp>
    </p:spTree>
    <p:extLst>
      <p:ext uri="{BB962C8B-B14F-4D97-AF65-F5344CB8AC3E}">
        <p14:creationId xmlns:p14="http://schemas.microsoft.com/office/powerpoint/2010/main" val="1957445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CD1FB750-113B-4F90-A3FC-A3430AC4AAFF}" type="slidenum">
              <a:rPr lang="en-US" smtClean="0"/>
              <a:t>16</a:t>
            </a:fld>
            <a:endParaRPr lang="en-US"/>
          </a:p>
        </p:txBody>
      </p:sp>
    </p:spTree>
    <p:extLst>
      <p:ext uri="{BB962C8B-B14F-4D97-AF65-F5344CB8AC3E}">
        <p14:creationId xmlns:p14="http://schemas.microsoft.com/office/powerpoint/2010/main" val="2090505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23007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4/21/2021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4/21/2021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4/21/2021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4/21/2021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4/21/2021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4/21/2021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4/21/2021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4/21/2021</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4/21/2021</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4/21/2021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4/21/2021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4/21/2021</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mailto:pscholes@uncc.edu"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spssi.onlinelibrary.wiley.com/doi/abs/10.1111/josi.12027" TargetMode="External"/><Relationship Id="rId2" Type="http://schemas.openxmlformats.org/officeDocument/2006/relationships/hyperlink" Target="https://www.theguardian.com/us-news/2015/dec/07/donald-trump-ban-all-muslims-entering-us-san-bernardino-shooting" TargetMode="External"/><Relationship Id="rId1" Type="http://schemas.openxmlformats.org/officeDocument/2006/relationships/slideLayout" Target="../slideLayouts/slideLayout2.xml"/><Relationship Id="rId4" Type="http://schemas.openxmlformats.org/officeDocument/2006/relationships/hyperlink" Target="https://www.huffpost.com/entry/anti-muslim-anti-refugee-rhetoric-poses-a-big-threat_b_58cc2243e4b0537abd95704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Refugees and the Macro Sociopolitical context</a:t>
            </a:r>
          </a:p>
        </p:txBody>
      </p:sp>
      <p:sp>
        <p:nvSpPr>
          <p:cNvPr id="3" name="Subtitle 2"/>
          <p:cNvSpPr>
            <a:spLocks noGrp="1"/>
          </p:cNvSpPr>
          <p:nvPr>
            <p:ph type="subTitle" idx="1"/>
          </p:nvPr>
        </p:nvSpPr>
        <p:spPr/>
        <p:txBody>
          <a:bodyPr/>
          <a:lstStyle/>
          <a:p>
            <a:r>
              <a:rPr lang="en-US" dirty="0"/>
              <a:t>Paul Scholes- University of North Carolina at Charlotte</a:t>
            </a:r>
          </a:p>
          <a:p>
            <a:r>
              <a:rPr lang="en-US" dirty="0"/>
              <a:t>pscholes@uncc.edu</a:t>
            </a:r>
          </a:p>
        </p:txBody>
      </p:sp>
    </p:spTree>
    <p:extLst>
      <p:ext uri="{BB962C8B-B14F-4D97-AF65-F5344CB8AC3E}">
        <p14:creationId xmlns:p14="http://schemas.microsoft.com/office/powerpoint/2010/main" val="1633900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r>
              <a:rPr lang="en-US" dirty="0"/>
              <a:t>Refugees</a:t>
            </a:r>
          </a:p>
          <a:p>
            <a:r>
              <a:rPr lang="en-US" dirty="0"/>
              <a:t>Research question</a:t>
            </a:r>
          </a:p>
          <a:p>
            <a:r>
              <a:rPr lang="en-US" dirty="0"/>
              <a:t>Theoretical Background</a:t>
            </a:r>
          </a:p>
          <a:p>
            <a:r>
              <a:rPr lang="en-US" dirty="0"/>
              <a:t>Hypotheses</a:t>
            </a:r>
          </a:p>
          <a:p>
            <a:r>
              <a:rPr lang="en-US" dirty="0"/>
              <a:t>Analysis</a:t>
            </a:r>
          </a:p>
          <a:p>
            <a:r>
              <a:rPr lang="en-US" dirty="0"/>
              <a:t>Discussion</a:t>
            </a:r>
          </a:p>
        </p:txBody>
      </p:sp>
    </p:spTree>
    <p:extLst>
      <p:ext uri="{BB962C8B-B14F-4D97-AF65-F5344CB8AC3E}">
        <p14:creationId xmlns:p14="http://schemas.microsoft.com/office/powerpoint/2010/main" val="3213157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Refugees</a:t>
            </a:r>
          </a:p>
        </p:txBody>
      </p:sp>
      <p:sp>
        <p:nvSpPr>
          <p:cNvPr id="3" name="Content Placeholder 2"/>
          <p:cNvSpPr>
            <a:spLocks noGrp="1"/>
          </p:cNvSpPr>
          <p:nvPr>
            <p:ph idx="1"/>
          </p:nvPr>
        </p:nvSpPr>
        <p:spPr/>
        <p:txBody>
          <a:bodyPr/>
          <a:lstStyle/>
          <a:p>
            <a:pPr marL="0" indent="0">
              <a:buNone/>
            </a:pPr>
            <a:endParaRPr lang="en-US" dirty="0"/>
          </a:p>
          <a:p>
            <a:r>
              <a:rPr lang="en-US" dirty="0"/>
              <a:t>79.5 million displaced individuals at the end of 2019(United Nations High Commissioner for Refugees 2020)</a:t>
            </a:r>
          </a:p>
          <a:p>
            <a:r>
              <a:rPr lang="en-US" dirty="0"/>
              <a:t>26.0 million refugees, the highest ever seen. </a:t>
            </a:r>
          </a:p>
          <a:p>
            <a:r>
              <a:rPr lang="en-US" dirty="0"/>
              <a:t>Since 1975, the US has resettled 3.2 million refugees</a:t>
            </a:r>
          </a:p>
          <a:p>
            <a:r>
              <a:rPr lang="en-US" dirty="0"/>
              <a:t>Migration can be economic, familial, forced, etc. </a:t>
            </a:r>
          </a:p>
        </p:txBody>
      </p:sp>
    </p:spTree>
    <p:extLst>
      <p:ext uri="{BB962C8B-B14F-4D97-AF65-F5344CB8AC3E}">
        <p14:creationId xmlns:p14="http://schemas.microsoft.com/office/powerpoint/2010/main" val="2307889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Refugees in the US</a:t>
            </a:r>
          </a:p>
        </p:txBody>
      </p:sp>
      <p:sp>
        <p:nvSpPr>
          <p:cNvPr id="3" name="Content Placeholder 2"/>
          <p:cNvSpPr>
            <a:spLocks noGrp="1"/>
          </p:cNvSpPr>
          <p:nvPr>
            <p:ph idx="1"/>
          </p:nvPr>
        </p:nvSpPr>
        <p:spPr/>
        <p:txBody>
          <a:bodyPr>
            <a:normAutofit lnSpcReduction="10000"/>
          </a:bodyPr>
          <a:lstStyle/>
          <a:p>
            <a:r>
              <a:rPr lang="en-US" dirty="0"/>
              <a:t>Most typical route: Refugees submit an application to the UN. Then they need to pass several rounds of interviews and background checks from at least six U.S. agencies before resettlement in to the U.S.</a:t>
            </a:r>
          </a:p>
          <a:p>
            <a:endParaRPr lang="en-US" dirty="0"/>
          </a:p>
          <a:p>
            <a:r>
              <a:rPr lang="en-US" dirty="0"/>
              <a:t>They are assigned to one of nine agencies, which work with the U.S. Department of State. Then these agencies assign the case to one of the local offices for resettlement. </a:t>
            </a:r>
          </a:p>
          <a:p>
            <a:endParaRPr lang="en-US" dirty="0"/>
          </a:p>
          <a:p>
            <a:r>
              <a:rPr lang="en-US" dirty="0"/>
              <a:t>Financial assistance use is high at first but drops drastically in the first few years. </a:t>
            </a:r>
          </a:p>
        </p:txBody>
      </p:sp>
    </p:spTree>
    <p:extLst>
      <p:ext uri="{BB962C8B-B14F-4D97-AF65-F5344CB8AC3E}">
        <p14:creationId xmlns:p14="http://schemas.microsoft.com/office/powerpoint/2010/main" val="855815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Question</a:t>
            </a:r>
          </a:p>
        </p:txBody>
      </p:sp>
      <p:sp>
        <p:nvSpPr>
          <p:cNvPr id="5" name="Content Placeholder 4"/>
          <p:cNvSpPr>
            <a:spLocks noGrp="1"/>
          </p:cNvSpPr>
          <p:nvPr>
            <p:ph idx="1"/>
          </p:nvPr>
        </p:nvSpPr>
        <p:spPr/>
        <p:txBody>
          <a:bodyPr/>
          <a:lstStyle/>
          <a:p>
            <a:r>
              <a:rPr lang="en-US" dirty="0"/>
              <a:t>What are the effects of the Trump administration’s policies on refugee financial independence? </a:t>
            </a:r>
          </a:p>
          <a:p>
            <a:r>
              <a:rPr lang="en-US" dirty="0"/>
              <a:t>How does refugee financial independence change from 2000-2017?</a:t>
            </a:r>
          </a:p>
          <a:p>
            <a:r>
              <a:rPr lang="en-US" dirty="0"/>
              <a:t>How does refugee dependence on public assistance programs change from 2000-2017?</a:t>
            </a:r>
          </a:p>
          <a:p>
            <a:pPr lvl="1"/>
            <a:endParaRPr lang="en-US" dirty="0"/>
          </a:p>
        </p:txBody>
      </p:sp>
    </p:spTree>
    <p:extLst>
      <p:ext uri="{BB962C8B-B14F-4D97-AF65-F5344CB8AC3E}">
        <p14:creationId xmlns:p14="http://schemas.microsoft.com/office/powerpoint/2010/main" val="4226869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
            </a:r>
          </a:p>
        </p:txBody>
      </p:sp>
      <p:sp>
        <p:nvSpPr>
          <p:cNvPr id="3" name="Content Placeholder 2"/>
          <p:cNvSpPr>
            <a:spLocks noGrp="1"/>
          </p:cNvSpPr>
          <p:nvPr>
            <p:ph sz="half" idx="1"/>
          </p:nvPr>
        </p:nvSpPr>
        <p:spPr>
          <a:xfrm>
            <a:off x="1581912" y="2638044"/>
            <a:ext cx="8378952" cy="4219956"/>
          </a:xfrm>
        </p:spPr>
        <p:txBody>
          <a:bodyPr>
            <a:normAutofit/>
          </a:bodyPr>
          <a:lstStyle/>
          <a:p>
            <a:r>
              <a:rPr lang="en-US" dirty="0" err="1"/>
              <a:t>Strang</a:t>
            </a:r>
            <a:r>
              <a:rPr lang="en-US" dirty="0"/>
              <a:t> and Ager (2010), see refugee integration as a two way negotiation between host contexts and refugees. </a:t>
            </a:r>
          </a:p>
          <a:p>
            <a:endParaRPr lang="en-US" dirty="0"/>
          </a:p>
          <a:p>
            <a:r>
              <a:rPr lang="en-US" dirty="0"/>
              <a:t>Employment, English language ability, enrollment in training or education programs are both creators and manifestations of social capital</a:t>
            </a:r>
          </a:p>
          <a:p>
            <a:endParaRPr lang="en-US" dirty="0"/>
          </a:p>
          <a:p>
            <a:r>
              <a:rPr lang="en-US" dirty="0"/>
              <a:t>Burt (1992) “Social capital is the friends, colleagues, and more general contacts through whom you receive opportunities to use your financial and human capital”</a:t>
            </a:r>
          </a:p>
          <a:p>
            <a:endParaRPr lang="en-US" dirty="0"/>
          </a:p>
          <a:p>
            <a:r>
              <a:rPr lang="en-US" dirty="0"/>
              <a:t>Discourse on refugees and arrival of refugees can change how people perceive/treat refugees. (</a:t>
            </a:r>
            <a:r>
              <a:rPr lang="en-US" dirty="0" err="1"/>
              <a:t>Esses</a:t>
            </a:r>
            <a:r>
              <a:rPr lang="en-US" dirty="0"/>
              <a:t>, </a:t>
            </a:r>
            <a:r>
              <a:rPr lang="en-US" dirty="0" err="1"/>
              <a:t>Medianu</a:t>
            </a:r>
            <a:r>
              <a:rPr lang="en-US" dirty="0"/>
              <a:t>, and Lawson 2013; Phillimore 2020)</a:t>
            </a:r>
          </a:p>
          <a:p>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72829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Applying Legitimacy Theory</a:t>
            </a:r>
            <a:endParaRPr lang="en-US" dirty="0"/>
          </a:p>
        </p:txBody>
      </p:sp>
      <p:sp>
        <p:nvSpPr>
          <p:cNvPr id="6" name="Content Placeholder 5"/>
          <p:cNvSpPr>
            <a:spLocks noGrp="1"/>
          </p:cNvSpPr>
          <p:nvPr>
            <p:ph idx="1"/>
          </p:nvPr>
        </p:nvSpPr>
        <p:spPr/>
        <p:txBody>
          <a:bodyPr>
            <a:normAutofit lnSpcReduction="10000"/>
          </a:bodyPr>
          <a:lstStyle/>
          <a:p>
            <a:r>
              <a:rPr lang="en-US" dirty="0" smtClean="0"/>
              <a:t>The macro and micro contexts are engaged in a </a:t>
            </a:r>
            <a:r>
              <a:rPr lang="en-US" dirty="0" err="1" smtClean="0"/>
              <a:t>Gramscian</a:t>
            </a:r>
            <a:r>
              <a:rPr lang="en-US" dirty="0" smtClean="0"/>
              <a:t> (1971) war of position for hegemony</a:t>
            </a:r>
          </a:p>
          <a:p>
            <a:pPr lvl="1"/>
            <a:r>
              <a:rPr lang="en-US" dirty="0" smtClean="0"/>
              <a:t>I’ll focus on the political contexts, the media, and the local communities in this theoretical analysis</a:t>
            </a:r>
          </a:p>
          <a:p>
            <a:r>
              <a:rPr lang="en-US" dirty="0" smtClean="0"/>
              <a:t>The Media is both participant and battlefield in this war of position. </a:t>
            </a:r>
          </a:p>
          <a:p>
            <a:endParaRPr lang="en-US" dirty="0"/>
          </a:p>
          <a:p>
            <a:r>
              <a:rPr lang="en-US" dirty="0" smtClean="0"/>
              <a:t>Domination</a:t>
            </a:r>
          </a:p>
          <a:p>
            <a:pPr lvl="1"/>
            <a:r>
              <a:rPr lang="en-US" dirty="0" smtClean="0"/>
              <a:t>Equity </a:t>
            </a:r>
            <a:r>
              <a:rPr lang="en-US" dirty="0" smtClean="0"/>
              <a:t>Theory</a:t>
            </a:r>
          </a:p>
          <a:p>
            <a:pPr lvl="1"/>
            <a:r>
              <a:rPr lang="en-US" dirty="0" smtClean="0"/>
              <a:t>The spread of validity</a:t>
            </a:r>
            <a:endParaRPr lang="en-US" dirty="0"/>
          </a:p>
        </p:txBody>
      </p:sp>
    </p:spTree>
    <p:extLst>
      <p:ext uri="{BB962C8B-B14F-4D97-AF65-F5344CB8AC3E}">
        <p14:creationId xmlns:p14="http://schemas.microsoft.com/office/powerpoint/2010/main" val="2274285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Co-Dependence of macro and micro structures in U.S.</a:t>
            </a:r>
            <a:endParaRPr lang="en-US" dirty="0"/>
          </a:p>
        </p:txBody>
      </p:sp>
      <p:sp>
        <p:nvSpPr>
          <p:cNvPr id="3" name="Content Placeholder 2"/>
          <p:cNvSpPr>
            <a:spLocks noGrp="1"/>
          </p:cNvSpPr>
          <p:nvPr>
            <p:ph idx="1"/>
          </p:nvPr>
        </p:nvSpPr>
        <p:spPr/>
        <p:txBody>
          <a:bodyPr>
            <a:normAutofit lnSpcReduction="10000"/>
          </a:bodyPr>
          <a:lstStyle/>
          <a:p>
            <a:r>
              <a:rPr lang="en-US" dirty="0" smtClean="0"/>
              <a:t>All structures rely on the endorsement of their constituents. </a:t>
            </a:r>
          </a:p>
          <a:p>
            <a:pPr lvl="1"/>
            <a:r>
              <a:rPr lang="en-US" dirty="0" smtClean="0"/>
              <a:t>Especially true for macro structures like political groups or media networks. </a:t>
            </a:r>
            <a:endParaRPr lang="en-US" dirty="0"/>
          </a:p>
          <a:p>
            <a:r>
              <a:rPr lang="en-US" dirty="0" smtClean="0"/>
              <a:t>Micro structures rely on funding and guidance of macro structures (especially in refugee resettlement)</a:t>
            </a:r>
          </a:p>
          <a:p>
            <a:endParaRPr lang="en-US" dirty="0" smtClean="0"/>
          </a:p>
          <a:p>
            <a:r>
              <a:rPr lang="en-US" dirty="0" smtClean="0"/>
              <a:t>Processes of Authorization and endorsement run both ways.  </a:t>
            </a:r>
            <a:endParaRPr lang="en-US" dirty="0"/>
          </a:p>
          <a:p>
            <a:endParaRPr lang="en-US" dirty="0" smtClean="0"/>
          </a:p>
          <a:p>
            <a:r>
              <a:rPr lang="en-US" dirty="0" smtClean="0"/>
              <a:t>Legitimization processes usually occur without your knowledge and without your </a:t>
            </a:r>
            <a:r>
              <a:rPr lang="en-US" smtClean="0"/>
              <a:t>belief in them. </a:t>
            </a:r>
            <a:endParaRPr lang="en-US" dirty="0"/>
          </a:p>
        </p:txBody>
      </p:sp>
    </p:spTree>
    <p:extLst>
      <p:ext uri="{BB962C8B-B14F-4D97-AF65-F5344CB8AC3E}">
        <p14:creationId xmlns:p14="http://schemas.microsoft.com/office/powerpoint/2010/main" val="2168704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Refugee stories in the media and legitimization</a:t>
            </a:r>
            <a:endParaRPr lang="en-US" dirty="0"/>
          </a:p>
        </p:txBody>
      </p:sp>
      <p:sp>
        <p:nvSpPr>
          <p:cNvPr id="6" name="Content Placeholder 5"/>
          <p:cNvSpPr>
            <a:spLocks noGrp="1"/>
          </p:cNvSpPr>
          <p:nvPr>
            <p:ph idx="1"/>
          </p:nvPr>
        </p:nvSpPr>
        <p:spPr/>
        <p:txBody>
          <a:bodyPr/>
          <a:lstStyle/>
          <a:p>
            <a:r>
              <a:rPr lang="en-US" dirty="0" smtClean="0"/>
              <a:t>Three types of stories told about refugees and migrants in the media</a:t>
            </a:r>
          </a:p>
          <a:p>
            <a:endParaRPr lang="en-US" dirty="0"/>
          </a:p>
          <a:p>
            <a:r>
              <a:rPr lang="en-US" dirty="0" smtClean="0"/>
              <a:t>Enemy at the Gates</a:t>
            </a:r>
          </a:p>
          <a:p>
            <a:endParaRPr lang="en-US" dirty="0"/>
          </a:p>
          <a:p>
            <a:r>
              <a:rPr lang="en-US" dirty="0" smtClean="0"/>
              <a:t>The Good Migrant</a:t>
            </a:r>
          </a:p>
          <a:p>
            <a:endParaRPr lang="en-US" dirty="0"/>
          </a:p>
          <a:p>
            <a:r>
              <a:rPr lang="en-US" dirty="0" smtClean="0"/>
              <a:t>Abuse of the System</a:t>
            </a:r>
            <a:endParaRPr lang="en-US" dirty="0"/>
          </a:p>
        </p:txBody>
      </p:sp>
    </p:spTree>
    <p:extLst>
      <p:ext uri="{BB962C8B-B14F-4D97-AF65-F5344CB8AC3E}">
        <p14:creationId xmlns:p14="http://schemas.microsoft.com/office/powerpoint/2010/main" val="4211080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Policy Timeline</a:t>
            </a:r>
          </a:p>
        </p:txBody>
      </p:sp>
      <p:sp>
        <p:nvSpPr>
          <p:cNvPr id="3" name="Content Placeholder 2"/>
          <p:cNvSpPr>
            <a:spLocks noGrp="1"/>
          </p:cNvSpPr>
          <p:nvPr>
            <p:ph idx="1"/>
          </p:nvPr>
        </p:nvSpPr>
        <p:spPr/>
        <p:txBody>
          <a:bodyPr>
            <a:normAutofit fontScale="92500" lnSpcReduction="10000"/>
          </a:bodyPr>
          <a:lstStyle/>
          <a:p>
            <a:r>
              <a:rPr lang="en-US" dirty="0"/>
              <a:t>Presidents set the admissions ceiling each year. </a:t>
            </a:r>
          </a:p>
          <a:p>
            <a:endParaRPr lang="en-US" dirty="0"/>
          </a:p>
          <a:p>
            <a:r>
              <a:rPr lang="en-US" dirty="0"/>
              <a:t>The “Muslim Ban” went into effect in June 2017 and was enforced sporadically during his presidency. </a:t>
            </a:r>
          </a:p>
          <a:p>
            <a:pPr lvl="1"/>
            <a:r>
              <a:rPr lang="en-US" dirty="0"/>
              <a:t>October 2017– Increased vetting and de-prioritization of refugees from Travel ban countries</a:t>
            </a:r>
          </a:p>
          <a:p>
            <a:r>
              <a:rPr lang="en-US" dirty="0"/>
              <a:t>End of the Central American Minors Program Aug 2017-Jan 2018</a:t>
            </a:r>
          </a:p>
          <a:p>
            <a:endParaRPr lang="en-US" dirty="0"/>
          </a:p>
          <a:p>
            <a:r>
              <a:rPr lang="en-US" dirty="0"/>
              <a:t>Actual changes to the refugee resettlement and integration policies occur after 2019. (Pierce and Bolter 2020) </a:t>
            </a:r>
          </a:p>
        </p:txBody>
      </p:sp>
    </p:spTree>
    <p:extLst>
      <p:ext uri="{BB962C8B-B14F-4D97-AF65-F5344CB8AC3E}">
        <p14:creationId xmlns:p14="http://schemas.microsoft.com/office/powerpoint/2010/main" val="2642534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Hypotheses</a:t>
            </a:r>
          </a:p>
        </p:txBody>
      </p:sp>
      <p:sp>
        <p:nvSpPr>
          <p:cNvPr id="3" name="Content Placeholder 2"/>
          <p:cNvSpPr>
            <a:spLocks noGrp="1"/>
          </p:cNvSpPr>
          <p:nvPr>
            <p:ph idx="1"/>
          </p:nvPr>
        </p:nvSpPr>
        <p:spPr/>
        <p:txBody>
          <a:bodyPr>
            <a:normAutofit/>
          </a:bodyPr>
          <a:lstStyle/>
          <a:p>
            <a:r>
              <a:rPr lang="en-US" dirty="0"/>
              <a:t>Refugees will have lower levels of relying on “public assistance alone” (no income) in the Trump Era compared earlier years. </a:t>
            </a:r>
          </a:p>
          <a:p>
            <a:pPr lvl="1"/>
            <a:r>
              <a:rPr lang="en-US" dirty="0"/>
              <a:t>This comes from the “integration as 2-way negotiation” perspective (</a:t>
            </a:r>
            <a:r>
              <a:rPr lang="en-US" dirty="0" err="1"/>
              <a:t>Strang</a:t>
            </a:r>
            <a:r>
              <a:rPr lang="en-US" dirty="0"/>
              <a:t> and Ager 2010). </a:t>
            </a:r>
          </a:p>
          <a:p>
            <a:endParaRPr lang="en-US" dirty="0"/>
          </a:p>
          <a:p>
            <a:r>
              <a:rPr lang="en-US" dirty="0"/>
              <a:t>Refugees will have lower levels of financial independence (no assistance use) during the Trump Era than compared to earlier years</a:t>
            </a:r>
          </a:p>
          <a:p>
            <a:pPr lvl="1"/>
            <a:r>
              <a:rPr lang="en-US" dirty="0"/>
              <a:t>Negative Discourse should reduce refugee integration outcomes like employment, social capital, etc. (Phillimore 2020)</a:t>
            </a:r>
          </a:p>
        </p:txBody>
      </p:sp>
    </p:spTree>
    <p:extLst>
      <p:ext uri="{BB962C8B-B14F-4D97-AF65-F5344CB8AC3E}">
        <p14:creationId xmlns:p14="http://schemas.microsoft.com/office/powerpoint/2010/main" val="1124192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a:t>
            </a:r>
          </a:p>
        </p:txBody>
      </p:sp>
      <p:sp>
        <p:nvSpPr>
          <p:cNvPr id="3" name="Content Placeholder 2"/>
          <p:cNvSpPr>
            <a:spLocks noGrp="1"/>
          </p:cNvSpPr>
          <p:nvPr>
            <p:ph idx="1"/>
          </p:nvPr>
        </p:nvSpPr>
        <p:spPr/>
        <p:txBody>
          <a:bodyPr>
            <a:normAutofit fontScale="92500" lnSpcReduction="10000"/>
          </a:bodyPr>
          <a:lstStyle/>
          <a:p>
            <a:r>
              <a:rPr lang="en-US" dirty="0"/>
              <a:t>The Annual Survey of Refugees has been a nationally representative dataset since 1993.  </a:t>
            </a:r>
          </a:p>
          <a:p>
            <a:pPr lvl="1"/>
            <a:endParaRPr lang="en-US" dirty="0"/>
          </a:p>
          <a:p>
            <a:pPr lvl="1"/>
            <a:r>
              <a:rPr lang="en-US" dirty="0"/>
              <a:t>1993-2015 Statistics are reported to Congress, the micro data isn’t available. </a:t>
            </a:r>
          </a:p>
          <a:p>
            <a:pPr lvl="1"/>
            <a:endParaRPr lang="en-US" dirty="0"/>
          </a:p>
          <a:p>
            <a:pPr lvl="1"/>
            <a:r>
              <a:rPr lang="en-US" dirty="0"/>
              <a:t>The Annual Survey of Refugees is publically available for 2016 and 2017. </a:t>
            </a:r>
          </a:p>
          <a:p>
            <a:pPr lvl="2"/>
            <a:r>
              <a:rPr lang="en-US" dirty="0"/>
              <a:t>Only representative dataset. </a:t>
            </a:r>
          </a:p>
          <a:p>
            <a:pPr lvl="2"/>
            <a:r>
              <a:rPr lang="en-US" dirty="0"/>
              <a:t>6000 respondents randomly drawn from the ORR’s refugee records.</a:t>
            </a:r>
          </a:p>
          <a:p>
            <a:pPr lvl="2"/>
            <a:r>
              <a:rPr lang="en-US" dirty="0"/>
              <a:t>1500 household interviews, stratified by age, gender, arrival cohort, region, language, and family size at arrival. </a:t>
            </a:r>
          </a:p>
        </p:txBody>
      </p:sp>
    </p:spTree>
    <p:extLst>
      <p:ext uri="{BB962C8B-B14F-4D97-AF65-F5344CB8AC3E}">
        <p14:creationId xmlns:p14="http://schemas.microsoft.com/office/powerpoint/2010/main" val="1836684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Financial Independence Operationalized	</a:t>
            </a:r>
          </a:p>
        </p:txBody>
      </p:sp>
      <p:sp>
        <p:nvSpPr>
          <p:cNvPr id="3" name="Content Placeholder 2"/>
          <p:cNvSpPr>
            <a:spLocks noGrp="1"/>
          </p:cNvSpPr>
          <p:nvPr>
            <p:ph idx="1"/>
          </p:nvPr>
        </p:nvSpPr>
        <p:spPr/>
        <p:txBody>
          <a:bodyPr/>
          <a:lstStyle/>
          <a:p>
            <a:r>
              <a:rPr lang="en-US" dirty="0"/>
              <a:t>Refugees were considered financially independent if they didn’t use Medicaid, SNAP,  TANF,  SSI, General Assistance,  or public housing within the past 12 months AND earned more than $800 a year.</a:t>
            </a:r>
          </a:p>
          <a:p>
            <a:endParaRPr lang="en-US" dirty="0"/>
          </a:p>
          <a:p>
            <a:r>
              <a:rPr lang="en-US" dirty="0"/>
              <a:t>If missing data on two or fewer assistance programs, but reported not using any other programs, refugees are considered financially independent. </a:t>
            </a:r>
          </a:p>
        </p:txBody>
      </p:sp>
    </p:spTree>
    <p:extLst>
      <p:ext uri="{BB962C8B-B14F-4D97-AF65-F5344CB8AC3E}">
        <p14:creationId xmlns:p14="http://schemas.microsoft.com/office/powerpoint/2010/main" val="3435121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Public Assistance dependence</a:t>
            </a:r>
          </a:p>
        </p:txBody>
      </p:sp>
      <p:pic>
        <p:nvPicPr>
          <p:cNvPr id="10" name="Content Placeholder 9"/>
          <p:cNvPicPr>
            <a:picLocks noGrp="1" noChangeAspect="1"/>
          </p:cNvPicPr>
          <p:nvPr>
            <p:ph sz="half" idx="2"/>
          </p:nvPr>
        </p:nvPicPr>
        <p:blipFill>
          <a:blip r:embed="rId3"/>
          <a:stretch>
            <a:fillRect/>
          </a:stretch>
        </p:blipFill>
        <p:spPr>
          <a:xfrm>
            <a:off x="2117217" y="2265035"/>
            <a:ext cx="7957566" cy="4415165"/>
          </a:xfrm>
          <a:prstGeom prst="rect">
            <a:avLst/>
          </a:prstGeom>
        </p:spPr>
      </p:pic>
    </p:spTree>
    <p:extLst>
      <p:ext uri="{BB962C8B-B14F-4D97-AF65-F5344CB8AC3E}">
        <p14:creationId xmlns:p14="http://schemas.microsoft.com/office/powerpoint/2010/main" val="890059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Financial Independence</a:t>
            </a:r>
          </a:p>
        </p:txBody>
      </p:sp>
      <p:sp>
        <p:nvSpPr>
          <p:cNvPr id="3" name="Content Placeholder 2"/>
          <p:cNvSpPr>
            <a:spLocks noGrp="1"/>
          </p:cNvSpPr>
          <p:nvPr>
            <p:ph sz="half" idx="1"/>
          </p:nvPr>
        </p:nvSpPr>
        <p:spPr/>
        <p:txBody>
          <a:bodyPr/>
          <a:lstStyle/>
          <a:p>
            <a:r>
              <a:rPr lang="en-US" dirty="0"/>
              <a:t>Chi Square test of independence for 2008-2015: p=.556</a:t>
            </a:r>
          </a:p>
          <a:p>
            <a:pPr lvl="1"/>
            <a:r>
              <a:rPr lang="en-US" dirty="0"/>
              <a:t>For 2000-2015: p=.6335</a:t>
            </a:r>
          </a:p>
          <a:p>
            <a:r>
              <a:rPr lang="en-US" dirty="0"/>
              <a:t>Chi Square test of independence for 2008-2017: p&lt;.00001</a:t>
            </a:r>
          </a:p>
          <a:p>
            <a:pPr lvl="1"/>
            <a:r>
              <a:rPr lang="en-US" dirty="0"/>
              <a:t>For 2000-2017 p&lt;.00001</a:t>
            </a:r>
          </a:p>
          <a:p>
            <a:endParaRPr lang="en-US" dirty="0"/>
          </a:p>
        </p:txBody>
      </p:sp>
      <p:pic>
        <p:nvPicPr>
          <p:cNvPr id="4" name="Content Placeholder 3"/>
          <p:cNvPicPr>
            <a:picLocks noGrp="1" noChangeAspect="1"/>
          </p:cNvPicPr>
          <p:nvPr>
            <p:ph sz="half" idx="2"/>
          </p:nvPr>
        </p:nvPicPr>
        <p:blipFill>
          <a:blip r:embed="rId3"/>
          <a:stretch>
            <a:fillRect/>
          </a:stretch>
        </p:blipFill>
        <p:spPr>
          <a:xfrm>
            <a:off x="5853683" y="2286000"/>
            <a:ext cx="5425713" cy="4461142"/>
          </a:xfrm>
          <a:prstGeom prst="rect">
            <a:avLst/>
          </a:prstGeom>
        </p:spPr>
      </p:pic>
    </p:spTree>
    <p:extLst>
      <p:ext uri="{BB962C8B-B14F-4D97-AF65-F5344CB8AC3E}">
        <p14:creationId xmlns:p14="http://schemas.microsoft.com/office/powerpoint/2010/main" val="302825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of findings</a:t>
            </a:r>
          </a:p>
        </p:txBody>
      </p:sp>
      <p:sp>
        <p:nvSpPr>
          <p:cNvPr id="3" name="Content Placeholder 2"/>
          <p:cNvSpPr>
            <a:spLocks noGrp="1"/>
          </p:cNvSpPr>
          <p:nvPr>
            <p:ph idx="1"/>
          </p:nvPr>
        </p:nvSpPr>
        <p:spPr>
          <a:xfrm>
            <a:off x="2231136" y="2638044"/>
            <a:ext cx="7729728" cy="4131056"/>
          </a:xfrm>
        </p:spPr>
        <p:txBody>
          <a:bodyPr>
            <a:normAutofit/>
          </a:bodyPr>
          <a:lstStyle/>
          <a:p>
            <a:pPr marL="0" indent="0">
              <a:buNone/>
            </a:pPr>
            <a:endParaRPr lang="en-US" dirty="0"/>
          </a:p>
          <a:p>
            <a:r>
              <a:rPr lang="en-US" dirty="0"/>
              <a:t>The policy changes don’t interact with this time frame. </a:t>
            </a:r>
          </a:p>
          <a:p>
            <a:endParaRPr lang="en-US" dirty="0"/>
          </a:p>
          <a:p>
            <a:r>
              <a:rPr lang="en-US" dirty="0"/>
              <a:t>These findings support the hypotheses</a:t>
            </a:r>
          </a:p>
          <a:p>
            <a:pPr marL="0" indent="0">
              <a:buNone/>
            </a:pPr>
            <a:endParaRPr lang="en-US" dirty="0"/>
          </a:p>
        </p:txBody>
      </p:sp>
    </p:spTree>
    <p:extLst>
      <p:ext uri="{BB962C8B-B14F-4D97-AF65-F5344CB8AC3E}">
        <p14:creationId xmlns:p14="http://schemas.microsoft.com/office/powerpoint/2010/main" val="748642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normAutofit/>
          </a:bodyPr>
          <a:lstStyle/>
          <a:p>
            <a:r>
              <a:rPr lang="en-US" dirty="0"/>
              <a:t>Unlikely that discourse around refugees and immigrants explains the whole 2016 drop. </a:t>
            </a:r>
          </a:p>
          <a:p>
            <a:r>
              <a:rPr lang="en-US" dirty="0"/>
              <a:t>New directions</a:t>
            </a:r>
          </a:p>
          <a:p>
            <a:pPr lvl="1"/>
            <a:r>
              <a:rPr lang="en-US" dirty="0"/>
              <a:t>Assuming these trends return to previous levels, what structures and initiatives will affect that recovery?</a:t>
            </a:r>
          </a:p>
          <a:p>
            <a:pPr lvl="1"/>
            <a:r>
              <a:rPr lang="en-US" dirty="0"/>
              <a:t>How do disaggregated refugees fare during this time period? Do certain regions of the US have different trends?</a:t>
            </a:r>
          </a:p>
        </p:txBody>
      </p:sp>
    </p:spTree>
    <p:extLst>
      <p:ext uri="{BB962C8B-B14F-4D97-AF65-F5344CB8AC3E}">
        <p14:creationId xmlns:p14="http://schemas.microsoft.com/office/powerpoint/2010/main" val="2234480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hlinkClick r:id="rId2"/>
              </a:rPr>
              <a:t>pscholes@uncc.edu</a:t>
            </a:r>
            <a:r>
              <a:rPr lang="en-US" dirty="0"/>
              <a:t> </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621437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This measurement error?</a:t>
            </a:r>
          </a:p>
        </p:txBody>
      </p:sp>
      <p:sp>
        <p:nvSpPr>
          <p:cNvPr id="3" name="Content Placeholder 2"/>
          <p:cNvSpPr>
            <a:spLocks noGrp="1"/>
          </p:cNvSpPr>
          <p:nvPr>
            <p:ph idx="1"/>
          </p:nvPr>
        </p:nvSpPr>
        <p:spPr/>
        <p:txBody>
          <a:bodyPr/>
          <a:lstStyle/>
          <a:p>
            <a:r>
              <a:rPr lang="en-US" dirty="0"/>
              <a:t>The Annual Survey of Refugees goes from a longitudinal to a cross-sectional study in 2016. </a:t>
            </a:r>
          </a:p>
          <a:p>
            <a:pPr lvl="1"/>
            <a:r>
              <a:rPr lang="en-US" dirty="0"/>
              <a:t>The longitudinal design would suffer from attrition, resulting in a oversampling of more recently arrived refugees. </a:t>
            </a:r>
          </a:p>
          <a:p>
            <a:pPr lvl="1"/>
            <a:endParaRPr lang="en-US" dirty="0"/>
          </a:p>
          <a:p>
            <a:r>
              <a:rPr lang="en-US" dirty="0"/>
              <a:t>The 2016 survey had a ~25% response rate and the variable had some missing data</a:t>
            </a:r>
          </a:p>
          <a:p>
            <a:pPr lvl="1"/>
            <a:r>
              <a:rPr lang="en-US" dirty="0"/>
              <a:t>I created a fictitious maximum estimate by putting all the missing data against my hypotheses 2000-2017 p=.0019.</a:t>
            </a:r>
          </a:p>
          <a:p>
            <a:pPr lvl="1"/>
            <a:endParaRPr lang="en-US" dirty="0"/>
          </a:p>
          <a:p>
            <a:pPr marL="0" indent="0">
              <a:buNone/>
            </a:pPr>
            <a:endParaRPr lang="en-US" dirty="0"/>
          </a:p>
        </p:txBody>
      </p:sp>
    </p:spTree>
    <p:extLst>
      <p:ext uri="{BB962C8B-B14F-4D97-AF65-F5344CB8AC3E}">
        <p14:creationId xmlns:p14="http://schemas.microsoft.com/office/powerpoint/2010/main" val="788148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1136" y="964692"/>
            <a:ext cx="7729728" cy="1188720"/>
          </a:xfrm>
        </p:spPr>
        <p:txBody>
          <a:bodyPr/>
          <a:lstStyle/>
          <a:p>
            <a:r>
              <a:rPr lang="en-US" dirty="0"/>
              <a:t>Is this measurement error? Continued</a:t>
            </a:r>
          </a:p>
        </p:txBody>
      </p:sp>
      <p:sp>
        <p:nvSpPr>
          <p:cNvPr id="3" name="Content Placeholder 2"/>
          <p:cNvSpPr>
            <a:spLocks noGrp="1"/>
          </p:cNvSpPr>
          <p:nvPr>
            <p:ph idx="1"/>
          </p:nvPr>
        </p:nvSpPr>
        <p:spPr/>
        <p:txBody>
          <a:bodyPr>
            <a:normAutofit/>
          </a:bodyPr>
          <a:lstStyle/>
          <a:p>
            <a:r>
              <a:rPr lang="en-US" dirty="0"/>
              <a:t>Alternative methods to estimate public assistance usage– Capps et al (2015) and Fix, Hooper, and </a:t>
            </a:r>
            <a:r>
              <a:rPr lang="en-US" dirty="0" err="1"/>
              <a:t>Zong</a:t>
            </a:r>
            <a:r>
              <a:rPr lang="en-US" dirty="0"/>
              <a:t> (2017) support the pre-2016 estimates. </a:t>
            </a:r>
          </a:p>
          <a:p>
            <a:endParaRPr lang="en-US" dirty="0"/>
          </a:p>
          <a:p>
            <a:r>
              <a:rPr lang="en-US" dirty="0"/>
              <a:t>The Annual Survey of Refugees went from a longitudinal design to a cross-sectional design in 2016. </a:t>
            </a:r>
          </a:p>
          <a:p>
            <a:pPr lvl="1"/>
            <a:r>
              <a:rPr lang="en-US" dirty="0"/>
              <a:t>Attrition would bias the 1993-2015 samples toward refugees who are LESS financially independent.</a:t>
            </a:r>
          </a:p>
          <a:p>
            <a:endParaRPr lang="en-US" dirty="0"/>
          </a:p>
        </p:txBody>
      </p:sp>
    </p:spTree>
    <p:extLst>
      <p:ext uri="{BB962C8B-B14F-4D97-AF65-F5344CB8AC3E}">
        <p14:creationId xmlns:p14="http://schemas.microsoft.com/office/powerpoint/2010/main" val="336486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Phillimore's Opportunity structures?</a:t>
            </a:r>
          </a:p>
        </p:txBody>
      </p:sp>
      <p:sp>
        <p:nvSpPr>
          <p:cNvPr id="3" name="Content Placeholder 2"/>
          <p:cNvSpPr>
            <a:spLocks noGrp="1"/>
          </p:cNvSpPr>
          <p:nvPr>
            <p:ph idx="1"/>
          </p:nvPr>
        </p:nvSpPr>
        <p:spPr>
          <a:xfrm>
            <a:off x="635000" y="2638044"/>
            <a:ext cx="10871200" cy="4004056"/>
          </a:xfrm>
        </p:spPr>
        <p:txBody>
          <a:bodyPr>
            <a:normAutofit/>
          </a:bodyPr>
          <a:lstStyle/>
          <a:p>
            <a:r>
              <a:rPr lang="en-US" dirty="0"/>
              <a:t>Initiatives and Support– The programs that assist refugees in their transition: English language programs, job coaching, the refugee non-profits that handle initial resettlement for 5 years. </a:t>
            </a:r>
          </a:p>
          <a:p>
            <a:r>
              <a:rPr lang="en-US" dirty="0"/>
              <a:t>Locality– Where the refugees are placed: Local environments differ on their ability to meet refugee needs. </a:t>
            </a:r>
          </a:p>
          <a:p>
            <a:r>
              <a:rPr lang="en-US" dirty="0"/>
              <a:t>Discourse—The conversations that are had about refugees: Refugees (and migrants in the US) have two main stories: Enemy at the Gates or the persevering over all odds story.</a:t>
            </a:r>
          </a:p>
          <a:p>
            <a:r>
              <a:rPr lang="en-US" dirty="0"/>
              <a:t>Relations– the interactions refugees have with programs and people: Similar to discourse, but focusing on actions toward refugees. In hostile places, refugees report not wanting to leave their homes for fear of their safety. </a:t>
            </a:r>
          </a:p>
          <a:p>
            <a:r>
              <a:rPr lang="en-US" dirty="0"/>
              <a:t>Structure– the process refugees have to go through to resettle: The US requires refugees to pay their travel costs (an interest free loan). Refugees are only eligible for refugee cash assistance for 8 months. </a:t>
            </a:r>
          </a:p>
        </p:txBody>
      </p:sp>
    </p:spTree>
    <p:extLst>
      <p:ext uri="{BB962C8B-B14F-4D97-AF65-F5344CB8AC3E}">
        <p14:creationId xmlns:p14="http://schemas.microsoft.com/office/powerpoint/2010/main" val="3340635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Are discourse and relations structures in play from 2015-2017?</a:t>
            </a:r>
          </a:p>
        </p:txBody>
      </p:sp>
      <p:sp>
        <p:nvSpPr>
          <p:cNvPr id="3" name="Content Placeholder 2"/>
          <p:cNvSpPr>
            <a:spLocks noGrp="1"/>
          </p:cNvSpPr>
          <p:nvPr>
            <p:ph idx="1"/>
          </p:nvPr>
        </p:nvSpPr>
        <p:spPr/>
        <p:txBody>
          <a:bodyPr/>
          <a:lstStyle/>
          <a:p>
            <a:r>
              <a:rPr lang="en-US" dirty="0"/>
              <a:t>“Build the Wall”</a:t>
            </a:r>
          </a:p>
          <a:p>
            <a:r>
              <a:rPr lang="en-US" dirty="0">
                <a:hlinkClick r:id="rId2"/>
              </a:rPr>
              <a:t>Trump’s Muslim Ban</a:t>
            </a:r>
            <a:r>
              <a:rPr lang="en-US" dirty="0"/>
              <a:t> circa 2015</a:t>
            </a:r>
          </a:p>
          <a:p>
            <a:r>
              <a:rPr lang="en-US" dirty="0"/>
              <a:t>Trump’s focus on immigration and refugee programs in 2015</a:t>
            </a:r>
          </a:p>
          <a:p>
            <a:r>
              <a:rPr lang="en-US" dirty="0"/>
              <a:t>(</a:t>
            </a:r>
            <a:r>
              <a:rPr lang="en-US" dirty="0" err="1">
                <a:hlinkClick r:id="rId3"/>
              </a:rPr>
              <a:t>Esses</a:t>
            </a:r>
            <a:r>
              <a:rPr lang="en-US" dirty="0">
                <a:hlinkClick r:id="rId3"/>
              </a:rPr>
              <a:t>, </a:t>
            </a:r>
            <a:r>
              <a:rPr lang="en-US" dirty="0" err="1">
                <a:hlinkClick r:id="rId3"/>
              </a:rPr>
              <a:t>Medianu</a:t>
            </a:r>
            <a:r>
              <a:rPr lang="en-US" dirty="0">
                <a:hlinkClick r:id="rId3"/>
              </a:rPr>
              <a:t>, and Lawson 2013</a:t>
            </a:r>
            <a:r>
              <a:rPr lang="en-US" dirty="0"/>
              <a:t>)</a:t>
            </a:r>
          </a:p>
          <a:p>
            <a:r>
              <a:rPr lang="en-US" dirty="0"/>
              <a:t> (</a:t>
            </a:r>
            <a:r>
              <a:rPr lang="en-US" dirty="0" err="1">
                <a:hlinkClick r:id="rId4"/>
              </a:rPr>
              <a:t>Abdulkadir</a:t>
            </a:r>
            <a:r>
              <a:rPr lang="en-US" dirty="0">
                <a:hlinkClick r:id="rId4"/>
              </a:rPr>
              <a:t> Ali 2017</a:t>
            </a:r>
            <a:r>
              <a:rPr lang="en-US" dirty="0"/>
              <a:t>)</a:t>
            </a:r>
          </a:p>
        </p:txBody>
      </p:sp>
    </p:spTree>
    <p:extLst>
      <p:ext uri="{BB962C8B-B14F-4D97-AF65-F5344CB8AC3E}">
        <p14:creationId xmlns:p14="http://schemas.microsoft.com/office/powerpoint/2010/main" val="43252323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2419</TotalTime>
  <Words>2369</Words>
  <Application>Microsoft Office PowerPoint</Application>
  <PresentationFormat>Widescreen</PresentationFormat>
  <Paragraphs>165</Paragraphs>
  <Slides>22</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Gill Sans MT</vt:lpstr>
      <vt:lpstr>Parcel</vt:lpstr>
      <vt:lpstr>Refugees and the Macro Sociopolitical context</vt:lpstr>
      <vt:lpstr>Overview</vt:lpstr>
      <vt:lpstr>Refugees</vt:lpstr>
      <vt:lpstr>Refugees in the US</vt:lpstr>
      <vt:lpstr>Research Question</vt:lpstr>
      <vt:lpstr>Background</vt:lpstr>
      <vt:lpstr>Applying Legitimacy Theory</vt:lpstr>
      <vt:lpstr>Co-Dependence of macro and micro structures in U.S.</vt:lpstr>
      <vt:lpstr>Refugee stories in the media and legitimization</vt:lpstr>
      <vt:lpstr>Policy Timeline</vt:lpstr>
      <vt:lpstr>Hypotheses</vt:lpstr>
      <vt:lpstr>Data</vt:lpstr>
      <vt:lpstr>Financial Independence Operationalized </vt:lpstr>
      <vt:lpstr>Results: Public Assistance dependence</vt:lpstr>
      <vt:lpstr>Results: Financial Independence</vt:lpstr>
      <vt:lpstr>Discussion of findings</vt:lpstr>
      <vt:lpstr>Conclusion</vt:lpstr>
      <vt:lpstr>pscholes@uncc.edu </vt:lpstr>
      <vt:lpstr>Is This measurement error?</vt:lpstr>
      <vt:lpstr>Is this measurement error? Continued</vt:lpstr>
      <vt:lpstr>What are Phillimore's Opportunity structures?</vt:lpstr>
      <vt:lpstr>Are discourse and relations structures in play from 2015-2017?</vt:lpstr>
    </vt:vector>
  </TitlesOfParts>
  <Company>UNC Charlotte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Refugees and the Macro Sociopolitical context</dc:title>
  <dc:creator>Paul Scholes</dc:creator>
  <cp:lastModifiedBy>Paul Scholes</cp:lastModifiedBy>
  <cp:revision>84</cp:revision>
  <dcterms:created xsi:type="dcterms:W3CDTF">2021-03-17T14:03:28Z</dcterms:created>
  <dcterms:modified xsi:type="dcterms:W3CDTF">2021-04-21T15:27:24Z</dcterms:modified>
</cp:coreProperties>
</file>